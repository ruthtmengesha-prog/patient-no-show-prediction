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231"/>
    <p:restoredTop sz="94630"/>
  </p:normalViewPr>
  <p:slideViewPr>
    <p:cSldViewPr snapToGrid="0">
      <p:cViewPr varScale="1">
        <p:scale>
          <a:sx n="81" d="100"/>
          <a:sy n="81" d="100"/>
        </p:scale>
        <p:origin x="192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6547-E722-E7F8-3FC1-167C63CA1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C5E1E-5D37-0800-7883-435ABC9C9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E7F62-441F-4E4D-8CC5-6AC25F41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5D1F2-4747-6A2F-B7B9-F93BC2F7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661A9-2D72-0464-23B5-7F8C0571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91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8A6F-F951-DADF-9168-83089CE6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4EAD4-D8B6-EF09-F606-BF7F26D43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8B672-A241-18A1-0CAC-774D5150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7668F-C57F-4BBB-C16A-28055ABD8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CCCD-76B6-EBAA-2841-4C88F3D7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5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DE96-97EE-AD3A-440C-B55088B9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6A362-29F1-D402-69AA-0BEF02B18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FB698-2406-0313-8F7E-873678E5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DB18D-580C-ABF3-E613-5C0E9CFA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403B1-07AD-002A-463F-768A328E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28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E9FD-B83E-A104-75E3-651B0624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4F695-5981-EC97-BD19-3BBEA8AFB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D048A-BE09-8C4B-3B4E-5446A7F4F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CF0EC-68B0-35B9-3AFC-93DA98B5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3052B-99C7-8BE7-2B8E-99582E636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1ECD8-ADD2-6724-08BA-3025AD30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03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3F53-8A76-8FF6-2129-86B22997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50B65-A4EC-A22F-6079-7FB4532BF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8F375-039F-0B21-5F3B-82B50D0A5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2F552-8F54-794F-A238-1E44F5C43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98E3-F1DE-0B9F-705B-7A0C6118C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F5FC26-377B-578B-4FDC-4A64CF6B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07EE18-F9E5-AEC4-830C-D8A8AD04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054DD-7444-CF1E-5454-64594CF1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8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01DC4-FB3F-3635-AB8E-F7DB997C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48490-17A3-252A-8E60-AFF0A1EB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C50EA-F968-00F4-DE3D-7E22A635D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5AC93-BF20-2BCC-1B9F-1A9908E0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43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6E332-34FD-C0A3-9DD6-0E705FFD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95FECD-6526-2995-5218-10223C84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706C5-F799-BEA4-8D3C-B74D5675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42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FCB6-3EAD-E2BD-9E94-BFC19A45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9C711-49B9-3FBB-3045-2A043DCA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DAD40-87F8-42A5-24E0-21115F800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B2DBA-55DD-CEC6-F5B6-B20B31F8C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C471-2D25-72C8-33A1-8BD192F8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E5820-0AAE-8E7D-6C57-D5C059C0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0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AE62-CB60-7E84-A612-3DD18C4FE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C7FD2-9BA4-8905-D76F-967D86DD3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31417-88E3-7ABD-2F1C-AB11B3AB3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9D3ED-44FB-828F-6FF5-F43E47784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71633-F455-4C9E-C824-30CE26A71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70BFC-C001-5896-6BA8-750EC77A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7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270F-F85C-5102-A011-B214B1FC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4F6C6-22DA-F7CF-5CDD-464165D51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3574D-F52F-0CCA-8012-D30C874C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F2222-75E5-7634-2CFE-0C135B9C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6583-3A93-AB58-4554-D8E60D24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25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DDCA4-17F1-743E-A54A-C872BCE50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AA1EF-918D-6F99-6E5F-F0D71CB80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13E39-C46C-14ED-5E70-773C2E4D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2B7C7-60DD-A6A7-1A24-1BFFF7E6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56779-1A44-F862-CE69-3961B1E2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0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2AC74-66D9-BC19-63CF-B411390A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E6D79-7443-21DD-3EEC-2AAFE7DE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6DBF8-141B-5A36-ECC1-73D09510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055A4-1A71-6942-A800-C875D567A47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3B4E-C5EE-45E5-993F-2ED38A934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20554-73CD-5786-4E0F-7520737C2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9CD85-3C74-2140-9DE6-1D5A2605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5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C861056-FEE3-1305-09B4-1272ED5FA4F7}"/>
              </a:ext>
            </a:extLst>
          </p:cNvPr>
          <p:cNvGrpSpPr/>
          <p:nvPr/>
        </p:nvGrpSpPr>
        <p:grpSpPr>
          <a:xfrm>
            <a:off x="2334512" y="269487"/>
            <a:ext cx="7313130" cy="6354599"/>
            <a:chOff x="2299918" y="53596"/>
            <a:chExt cx="7313130" cy="6354599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D300AA9-55D8-081B-7197-AF2E26720643}"/>
                </a:ext>
              </a:extLst>
            </p:cNvPr>
            <p:cNvSpPr/>
            <p:nvPr/>
          </p:nvSpPr>
          <p:spPr>
            <a:xfrm>
              <a:off x="4781719" y="2065509"/>
              <a:ext cx="2349529" cy="2186575"/>
            </a:xfrm>
            <a:custGeom>
              <a:avLst/>
              <a:gdLst>
                <a:gd name="csX0" fmla="*/ 0 w 1688378"/>
                <a:gd name="csY0" fmla="*/ 817984 h 1635967"/>
                <a:gd name="csX1" fmla="*/ 844189 w 1688378"/>
                <a:gd name="csY1" fmla="*/ 0 h 1635967"/>
                <a:gd name="csX2" fmla="*/ 1688378 w 1688378"/>
                <a:gd name="csY2" fmla="*/ 817984 h 1635967"/>
                <a:gd name="csX3" fmla="*/ 844189 w 1688378"/>
                <a:gd name="csY3" fmla="*/ 1635968 h 1635967"/>
                <a:gd name="csX4" fmla="*/ 0 w 1688378"/>
                <a:gd name="csY4" fmla="*/ 817984 h 1635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88378" h="1635967">
                  <a:moveTo>
                    <a:pt x="0" y="817984"/>
                  </a:moveTo>
                  <a:cubicBezTo>
                    <a:pt x="0" y="366224"/>
                    <a:pt x="377956" y="0"/>
                    <a:pt x="844189" y="0"/>
                  </a:cubicBezTo>
                  <a:cubicBezTo>
                    <a:pt x="1310422" y="0"/>
                    <a:pt x="1688378" y="366224"/>
                    <a:pt x="1688378" y="817984"/>
                  </a:cubicBezTo>
                  <a:cubicBezTo>
                    <a:pt x="1688378" y="1269744"/>
                    <a:pt x="1310422" y="1635968"/>
                    <a:pt x="844189" y="1635968"/>
                  </a:cubicBezTo>
                  <a:cubicBezTo>
                    <a:pt x="377956" y="1635968"/>
                    <a:pt x="0" y="1269744"/>
                    <a:pt x="0" y="817984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effectLst>
              <a:outerShdw blurRad="901700" sx="105000" sy="105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0117" tIns="262442" rIns="270117" bIns="262442" numCol="1" spcCol="1270" anchor="ctr" anchorCtr="0">
              <a:noAutofit/>
            </a:bodyPr>
            <a:lstStyle/>
            <a:p>
              <a:pPr marL="0" lvl="0" indent="0" algn="ctr" defTabSz="77787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50" b="1" kern="1200" dirty="0">
                  <a:solidFill>
                    <a:schemeClr val="tx2"/>
                  </a:solidFill>
                </a:rPr>
                <a:t>Predicting Patient No-Shows</a:t>
              </a:r>
            </a:p>
            <a:p>
              <a:pPr marL="0" lvl="0" indent="0" algn="ctr" defTabSz="77787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i="1" kern="1200" dirty="0">
                  <a:solidFill>
                    <a:schemeClr val="tx2"/>
                  </a:solidFill>
                </a:rPr>
                <a:t>Improving Healthcare Efficiency</a:t>
              </a: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0082063-F82F-87FF-E1DD-9F5A720043A5}"/>
                </a:ext>
              </a:extLst>
            </p:cNvPr>
            <p:cNvSpPr/>
            <p:nvPr/>
          </p:nvSpPr>
          <p:spPr>
            <a:xfrm>
              <a:off x="4944635" y="53596"/>
              <a:ext cx="2092883" cy="2009989"/>
            </a:xfrm>
            <a:custGeom>
              <a:avLst/>
              <a:gdLst>
                <a:gd name="csX0" fmla="*/ 0 w 1894660"/>
                <a:gd name="csY0" fmla="*/ 877971 h 1755941"/>
                <a:gd name="csX1" fmla="*/ 947330 w 1894660"/>
                <a:gd name="csY1" fmla="*/ 0 h 1755941"/>
                <a:gd name="csX2" fmla="*/ 1894660 w 1894660"/>
                <a:gd name="csY2" fmla="*/ 877971 h 1755941"/>
                <a:gd name="csX3" fmla="*/ 947330 w 1894660"/>
                <a:gd name="csY3" fmla="*/ 1755942 h 1755941"/>
                <a:gd name="csX4" fmla="*/ 0 w 1894660"/>
                <a:gd name="csY4" fmla="*/ 877971 h 1755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94660" h="1755941">
                  <a:moveTo>
                    <a:pt x="0" y="877971"/>
                  </a:moveTo>
                  <a:cubicBezTo>
                    <a:pt x="0" y="393081"/>
                    <a:pt x="424134" y="0"/>
                    <a:pt x="947330" y="0"/>
                  </a:cubicBezTo>
                  <a:cubicBezTo>
                    <a:pt x="1470526" y="0"/>
                    <a:pt x="1894660" y="393081"/>
                    <a:pt x="1894660" y="877971"/>
                  </a:cubicBezTo>
                  <a:cubicBezTo>
                    <a:pt x="1894660" y="1362861"/>
                    <a:pt x="1470526" y="1755942"/>
                    <a:pt x="947330" y="1755942"/>
                  </a:cubicBezTo>
                  <a:cubicBezTo>
                    <a:pt x="424134" y="1755942"/>
                    <a:pt x="0" y="1362861"/>
                    <a:pt x="0" y="877971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  <a:effectLst>
              <a:outerShdw blurRad="901700" sx="104815" sy="104815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2867" tIns="282552" rIns="302867" bIns="282552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bg1"/>
                  </a:solidFill>
                </a:rPr>
                <a:t>Cost &amp; System Impact</a:t>
              </a: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296FA46-FB7E-790D-E53A-005807B29318}"/>
                </a:ext>
              </a:extLst>
            </p:cNvPr>
            <p:cNvSpPr/>
            <p:nvPr/>
          </p:nvSpPr>
          <p:spPr>
            <a:xfrm>
              <a:off x="7101011" y="2061662"/>
              <a:ext cx="2512037" cy="2460403"/>
            </a:xfrm>
            <a:custGeom>
              <a:avLst/>
              <a:gdLst>
                <a:gd name="csX0" fmla="*/ 0 w 2349529"/>
                <a:gd name="csY0" fmla="*/ 1211639 h 2423278"/>
                <a:gd name="csX1" fmla="*/ 1174765 w 2349529"/>
                <a:gd name="csY1" fmla="*/ 0 h 2423278"/>
                <a:gd name="csX2" fmla="*/ 2349530 w 2349529"/>
                <a:gd name="csY2" fmla="*/ 1211639 h 2423278"/>
                <a:gd name="csX3" fmla="*/ 1174765 w 2349529"/>
                <a:gd name="csY3" fmla="*/ 2423278 h 2423278"/>
                <a:gd name="csX4" fmla="*/ 0 w 2349529"/>
                <a:gd name="csY4" fmla="*/ 1211639 h 24232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49529" h="2423278">
                  <a:moveTo>
                    <a:pt x="0" y="1211639"/>
                  </a:moveTo>
                  <a:cubicBezTo>
                    <a:pt x="0" y="542469"/>
                    <a:pt x="525960" y="0"/>
                    <a:pt x="1174765" y="0"/>
                  </a:cubicBezTo>
                  <a:cubicBezTo>
                    <a:pt x="1823570" y="0"/>
                    <a:pt x="2349530" y="542469"/>
                    <a:pt x="2349530" y="1211639"/>
                  </a:cubicBezTo>
                  <a:cubicBezTo>
                    <a:pt x="2349530" y="1880809"/>
                    <a:pt x="1823570" y="2423278"/>
                    <a:pt x="1174765" y="2423278"/>
                  </a:cubicBezTo>
                  <a:cubicBezTo>
                    <a:pt x="525960" y="2423278"/>
                    <a:pt x="0" y="1880809"/>
                    <a:pt x="0" y="1211639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  <a:effectLst>
              <a:outerShdw blurRad="913470" sx="105000" sy="105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6941" tIns="377741" rIns="366941" bIns="37774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 dirty="0">
                  <a:solidFill>
                    <a:schemeClr val="bg1"/>
                  </a:solidFill>
                </a:rPr>
                <a:t>Improved Access to Care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1600" kern="1200" dirty="0">
                  <a:solidFill>
                    <a:schemeClr val="bg1"/>
                  </a:solidFill>
                </a:rPr>
                <a:t>-Reduced wait times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1600" kern="1200" dirty="0">
                  <a:solidFill>
                    <a:schemeClr val="bg1"/>
                  </a:solidFill>
                </a:rPr>
                <a:t>-Better appointment availability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Courier New" panose="02070309020205020404" pitchFamily="49" charset="0"/>
                <a:buNone/>
              </a:pPr>
              <a:endParaRPr lang="en-US" sz="1000" kern="120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D4C908D-C6C4-15C2-6D33-C6B33E0E175D}"/>
                </a:ext>
              </a:extLst>
            </p:cNvPr>
            <p:cNvSpPr/>
            <p:nvPr/>
          </p:nvSpPr>
          <p:spPr>
            <a:xfrm>
              <a:off x="4817211" y="4236852"/>
              <a:ext cx="2232024" cy="2171343"/>
            </a:xfrm>
            <a:custGeom>
              <a:avLst/>
              <a:gdLst>
                <a:gd name="csX0" fmla="*/ 0 w 2232024"/>
                <a:gd name="csY0" fmla="*/ 1085672 h 2171343"/>
                <a:gd name="csX1" fmla="*/ 1116012 w 2232024"/>
                <a:gd name="csY1" fmla="*/ 0 h 2171343"/>
                <a:gd name="csX2" fmla="*/ 2232024 w 2232024"/>
                <a:gd name="csY2" fmla="*/ 1085672 h 2171343"/>
                <a:gd name="csX3" fmla="*/ 1116012 w 2232024"/>
                <a:gd name="csY3" fmla="*/ 2171344 h 2171343"/>
                <a:gd name="csX4" fmla="*/ 0 w 2232024"/>
                <a:gd name="csY4" fmla="*/ 1085672 h 2171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32024" h="2171343">
                  <a:moveTo>
                    <a:pt x="0" y="1085672"/>
                  </a:moveTo>
                  <a:cubicBezTo>
                    <a:pt x="0" y="486072"/>
                    <a:pt x="499656" y="0"/>
                    <a:pt x="1116012" y="0"/>
                  </a:cubicBezTo>
                  <a:cubicBezTo>
                    <a:pt x="1732368" y="0"/>
                    <a:pt x="2232024" y="486072"/>
                    <a:pt x="2232024" y="1085672"/>
                  </a:cubicBezTo>
                  <a:cubicBezTo>
                    <a:pt x="2232024" y="1685272"/>
                    <a:pt x="1732368" y="2171344"/>
                    <a:pt x="1116012" y="2171344"/>
                  </a:cubicBezTo>
                  <a:cubicBezTo>
                    <a:pt x="499656" y="2171344"/>
                    <a:pt x="0" y="1685272"/>
                    <a:pt x="0" y="1085672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  <a:effectLst>
              <a:outerShdw blurRad="901700" sx="105000" sy="105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9732" tIns="340846" rIns="349732" bIns="340846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 dirty="0">
                  <a:solidFill>
                    <a:schemeClr val="bg1"/>
                  </a:solidFill>
                </a:rPr>
                <a:t>Reduced Missed Visits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1800" kern="1200" dirty="0">
                  <a:solidFill>
                    <a:schemeClr val="bg1"/>
                  </a:solidFill>
                </a:rPr>
                <a:t>-</a:t>
              </a:r>
              <a:r>
                <a:rPr lang="en-US" sz="1600" kern="1200" dirty="0">
                  <a:solidFill>
                    <a:schemeClr val="bg1"/>
                  </a:solidFill>
                </a:rPr>
                <a:t>Targeted reminders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1600" kern="1200" dirty="0">
                  <a:solidFill>
                    <a:schemeClr val="bg1"/>
                  </a:solidFill>
                </a:rPr>
                <a:t>-Improved attendance                                                                                                                                                                                                                     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65D6CD3-43B9-E2ED-CD50-DB422597ABE6}"/>
                </a:ext>
              </a:extLst>
            </p:cNvPr>
            <p:cNvSpPr/>
            <p:nvPr/>
          </p:nvSpPr>
          <p:spPr>
            <a:xfrm>
              <a:off x="2299918" y="2046429"/>
              <a:ext cx="2558557" cy="2474193"/>
            </a:xfrm>
            <a:custGeom>
              <a:avLst/>
              <a:gdLst>
                <a:gd name="csX0" fmla="*/ 0 w 2558557"/>
                <a:gd name="csY0" fmla="*/ 1237097 h 2474193"/>
                <a:gd name="csX1" fmla="*/ 1279279 w 2558557"/>
                <a:gd name="csY1" fmla="*/ 0 h 2474193"/>
                <a:gd name="csX2" fmla="*/ 2558558 w 2558557"/>
                <a:gd name="csY2" fmla="*/ 1237097 h 2474193"/>
                <a:gd name="csX3" fmla="*/ 1279279 w 2558557"/>
                <a:gd name="csY3" fmla="*/ 2474194 h 2474193"/>
                <a:gd name="csX4" fmla="*/ 0 w 2558557"/>
                <a:gd name="csY4" fmla="*/ 1237097 h 24741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58557" h="2474193">
                  <a:moveTo>
                    <a:pt x="0" y="1237097"/>
                  </a:moveTo>
                  <a:cubicBezTo>
                    <a:pt x="0" y="553867"/>
                    <a:pt x="572753" y="0"/>
                    <a:pt x="1279279" y="0"/>
                  </a:cubicBezTo>
                  <a:cubicBezTo>
                    <a:pt x="1985805" y="0"/>
                    <a:pt x="2558558" y="553867"/>
                    <a:pt x="2558558" y="1237097"/>
                  </a:cubicBezTo>
                  <a:cubicBezTo>
                    <a:pt x="2558558" y="1920327"/>
                    <a:pt x="1985805" y="2474194"/>
                    <a:pt x="1279279" y="2474194"/>
                  </a:cubicBezTo>
                  <a:cubicBezTo>
                    <a:pt x="572753" y="2474194"/>
                    <a:pt x="0" y="1920327"/>
                    <a:pt x="0" y="123709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solidFill>
                <a:schemeClr val="tx1"/>
              </a:solidFill>
            </a:ln>
            <a:effectLst>
              <a:outerShdw blurRad="901700" sx="105000" sy="105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7552" tIns="385197" rIns="397552" bIns="385197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 dirty="0">
                  <a:solidFill>
                    <a:schemeClr val="bg1"/>
                  </a:solidFill>
                </a:rPr>
                <a:t>Better Scheduling Efficiency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1600" kern="1200" dirty="0">
                  <a:solidFill>
                    <a:schemeClr val="bg1"/>
                  </a:solidFill>
                </a:rPr>
                <a:t>-Optimized planning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1600" kern="1200" dirty="0">
                  <a:solidFill>
                    <a:schemeClr val="bg1"/>
                  </a:solidFill>
                </a:rPr>
                <a:t>-Staff allocation</a:t>
              </a:r>
            </a:p>
          </p:txBody>
        </p:sp>
      </p:grpSp>
      <p:pic>
        <p:nvPicPr>
          <p:cNvPr id="11" name="Graphic 10" descr="Dollar with solid fill">
            <a:extLst>
              <a:ext uri="{FF2B5EF4-FFF2-40B4-BE49-F238E27FC236}">
                <a16:creationId xmlns:a16="http://schemas.microsoft.com/office/drawing/2014/main" id="{457C598F-319F-016F-B0FA-CB4EAF7C20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6538" y="125289"/>
            <a:ext cx="518264" cy="518264"/>
          </a:xfrm>
          <a:prstGeom prst="rect">
            <a:avLst/>
          </a:prstGeom>
        </p:spPr>
      </p:pic>
      <p:pic>
        <p:nvPicPr>
          <p:cNvPr id="13" name="Graphic 12" descr="Bell with solid fill">
            <a:extLst>
              <a:ext uri="{FF2B5EF4-FFF2-40B4-BE49-F238E27FC236}">
                <a16:creationId xmlns:a16="http://schemas.microsoft.com/office/drawing/2014/main" id="{E61C6365-B62E-0560-F23B-F8F1C63800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2173" y="6333674"/>
            <a:ext cx="611288" cy="611288"/>
          </a:xfrm>
          <a:prstGeom prst="rect">
            <a:avLst/>
          </a:prstGeom>
        </p:spPr>
      </p:pic>
      <p:pic>
        <p:nvPicPr>
          <p:cNvPr id="17" name="Graphic 16" descr="Daily calendar with solid fill">
            <a:extLst>
              <a:ext uri="{FF2B5EF4-FFF2-40B4-BE49-F238E27FC236}">
                <a16:creationId xmlns:a16="http://schemas.microsoft.com/office/drawing/2014/main" id="{FD11C57F-0D66-D587-4560-A8A21B26D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4153" y="1937495"/>
            <a:ext cx="649650" cy="649650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C39383C-6AD7-6B4B-A4E8-0AC31337DFAD}"/>
              </a:ext>
            </a:extLst>
          </p:cNvPr>
          <p:cNvSpPr/>
          <p:nvPr/>
        </p:nvSpPr>
        <p:spPr>
          <a:xfrm>
            <a:off x="290302" y="5697415"/>
            <a:ext cx="3533090" cy="983178"/>
          </a:xfrm>
          <a:prstGeom prst="roundRect">
            <a:avLst/>
          </a:prstGeom>
          <a:solidFill>
            <a:schemeClr val="tx2"/>
          </a:solidFill>
          <a:effectLst>
            <a:outerShdw blurRad="901700" sx="105000" sy="105000" algn="ctr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alpha val="99000"/>
                  </a:schemeClr>
                </a:solidFill>
              </a:rPr>
              <a:t>Improved Outcomes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99000"/>
                  </a:schemeClr>
                </a:solidFill>
              </a:rPr>
              <a:t>Better patient outcomes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99000"/>
                  </a:schemeClr>
                </a:solidFill>
              </a:rPr>
              <a:t>Increased attendance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9CC8594-2302-1D85-B905-EFFF8552B2FC}"/>
              </a:ext>
            </a:extLst>
          </p:cNvPr>
          <p:cNvSpPr/>
          <p:nvPr/>
        </p:nvSpPr>
        <p:spPr>
          <a:xfrm>
            <a:off x="8112242" y="5697415"/>
            <a:ext cx="3838020" cy="983178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901700" sx="105000" sy="105000" algn="ctr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System Efficiency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More efficient healthcare system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Better access to care</a:t>
            </a:r>
          </a:p>
        </p:txBody>
      </p:sp>
      <p:pic>
        <p:nvPicPr>
          <p:cNvPr id="21" name="Graphic 20" descr="Hourglass Finished with solid fill">
            <a:extLst>
              <a:ext uri="{FF2B5EF4-FFF2-40B4-BE49-F238E27FC236}">
                <a16:creationId xmlns:a16="http://schemas.microsoft.com/office/drawing/2014/main" id="{B8921B1E-7A61-0C81-4D20-058F435581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7538" y="1998349"/>
            <a:ext cx="558408" cy="5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5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4574</TotalTime>
  <Words>57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 T Mengesha</dc:creator>
  <cp:lastModifiedBy>Ruth T Mengesha</cp:lastModifiedBy>
  <cp:revision>2</cp:revision>
  <dcterms:created xsi:type="dcterms:W3CDTF">2026-05-02T20:06:07Z</dcterms:created>
  <dcterms:modified xsi:type="dcterms:W3CDTF">2026-05-06T00:20:42Z</dcterms:modified>
</cp:coreProperties>
</file>